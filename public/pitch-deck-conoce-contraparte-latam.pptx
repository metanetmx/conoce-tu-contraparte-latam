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2"/>
          </a:solidFill>
          <a:ln w="12700">
            <a:solidFill>
              <a:srgbClr val="141A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0528"/>
            <a:ext cx="11274552" cy="0"/>
          </a:xfrm>
          <a:prstGeom prst="line">
            <a:avLst/>
          </a:prstGeom>
          <a:noFill/>
          <a:ln w="12700">
            <a:solidFill>
              <a:srgbClr val="2C3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69C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CONTRAPARTE LATAM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491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verificable para decidir mejor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onoce-tu-contraparte-latam.vercel.ap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85800"/>
            <a:ext cx="662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7F9FC"/>
                </a:solidFill>
              </a:rPr>
              <a:t>CONOCE A TU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7F9FC"/>
                </a:solidFill>
              </a:rPr>
              <a:t>CONTRAPARTE LATAM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03504" y="25603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A8B8"/>
                </a:solidFill>
              </a:rPr>
              <a:t>La red de evidencia verificable para empresas y personas en Latinoamérica.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03504" y="349300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69C2FB">
              <a:alpha val="18000"/>
            </a:srgbClr>
          </a:solidFill>
          <a:ln w="10160">
            <a:solidFill>
              <a:srgbClr val="69C2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3566160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9C2FB"/>
                </a:solidFill>
              </a:rPr>
              <a:t>COLOMBIA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938528" y="3493008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69C2FB">
              <a:alpha val="18000"/>
            </a:srgbClr>
          </a:solidFill>
          <a:ln w="10160">
            <a:solidFill>
              <a:srgbClr val="69C2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5661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9C2FB"/>
                </a:solidFill>
              </a:rPr>
              <a:t>MÉXICO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127248" y="349300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69C2FB">
              <a:alpha val="18000"/>
            </a:srgbClr>
          </a:solidFill>
          <a:ln w="10160">
            <a:solidFill>
              <a:srgbClr val="69C2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356616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9C2FB"/>
                </a:solidFill>
              </a:rPr>
              <a:t>PERÚ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03504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8D69D"/>
                </a:solidFill>
              </a:rPr>
              <a:t>Impulsado por Croma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8B8"/>
                </a:solidFill>
              </a:rPr>
              <a:t>Hackathon Pitch Deck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685800"/>
            <a:ext cx="4297680" cy="5349240"/>
          </a:xfrm>
          <a:prstGeom prst="roundRect">
            <a:avLst>
              <a:gd name="adj" fmla="val 2128"/>
            </a:avLst>
          </a:prstGeom>
          <a:solidFill>
            <a:srgbClr val="232B38"/>
          </a:solidFill>
          <a:ln w="12700">
            <a:solidFill>
              <a:srgbClr val="3B4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1097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9C2FB"/>
                </a:solidFill>
              </a:rPr>
              <a:t>DATOS PÚBLICOS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635240" y="1572768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2B3444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45552" y="1746504"/>
            <a:ext cx="137160" cy="137160"/>
          </a:xfrm>
          <a:prstGeom prst="ellipse">
            <a:avLst/>
          </a:prstGeom>
          <a:solidFill>
            <a:srgbClr val="69C2FB"/>
          </a:solidFill>
          <a:ln w="12700">
            <a:solidFill>
              <a:srgbClr val="69C2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7007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C"/>
                </a:solidFill>
              </a:rPr>
              <a:t>Identidad registral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35240" y="2304288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2B3444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2478024"/>
            <a:ext cx="137160" cy="137160"/>
          </a:xfrm>
          <a:prstGeom prst="ellipse">
            <a:avLst/>
          </a:prstGeom>
          <a:solidFill>
            <a:srgbClr val="69C2FB"/>
          </a:solidFill>
          <a:ln w="12700">
            <a:solidFill>
              <a:srgbClr val="69C2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243230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C"/>
                </a:solidFill>
              </a:rPr>
              <a:t>Listas globales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3035808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2B3444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45552" y="3209544"/>
            <a:ext cx="137160" cy="137160"/>
          </a:xfrm>
          <a:prstGeom prst="ellipse">
            <a:avLst/>
          </a:prstGeom>
          <a:solidFill>
            <a:srgbClr val="69C2FB"/>
          </a:solidFill>
          <a:ln w="12700">
            <a:solidFill>
              <a:srgbClr val="69C2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316382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C"/>
                </a:solidFill>
              </a:rPr>
              <a:t>Relaciones publicadas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3767328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2B3444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45552" y="3941064"/>
            <a:ext cx="137160" cy="137160"/>
          </a:xfrm>
          <a:prstGeom prst="ellipse">
            <a:avLst/>
          </a:prstGeom>
          <a:solidFill>
            <a:srgbClr val="69C2FB"/>
          </a:solidFill>
          <a:ln w="12700">
            <a:solidFill>
              <a:srgbClr val="69C2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38953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C"/>
                </a:solidFill>
              </a:rPr>
              <a:t>Evidencia web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35240" y="4498848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2B3444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45552" y="4672584"/>
            <a:ext cx="137160" cy="137160"/>
          </a:xfrm>
          <a:prstGeom prst="ellipse">
            <a:avLst/>
          </a:prstGeom>
          <a:solidFill>
            <a:srgbClr val="68D69D"/>
          </a:solidFill>
          <a:ln w="12700">
            <a:solidFill>
              <a:srgbClr val="68D6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462686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F9FC"/>
                </a:solidFill>
              </a:rPr>
              <a:t>Fuentes nacionales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54406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C"/>
                </a:solidFill>
              </a:rPr>
              <a:t>Una consulta. Todas las fuentes visibles.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EL PROBLEMA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Hacer due diligence en LatAm sigue siendo fragmentado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La información existe, pero está repartida entre registros, listas, boletines y buscadores.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0208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DA8B8"/>
                </a:solidFill>
              </a:rPr>
              <a:t>FRICCIÓN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58952" y="230428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C66C"/>
                </a:solidFill>
              </a:rPr>
              <a:t>3 países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3355848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DA8B8"/>
                </a:solidFill>
              </a:rPr>
              <a:t>Reglas, identificadores y fuentes distintas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20208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DA8B8"/>
                </a:solidFill>
              </a:rPr>
              <a:t>RIESGO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35424" y="230428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827A"/>
                </a:solidFill>
              </a:rPr>
              <a:t>Homónimos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35424" y="3355848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DA8B8"/>
                </a:solidFill>
              </a:rPr>
              <a:t>Una coincidencia de nombre puede inducir a error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47304" y="1874520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20208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9DA8B8"/>
                </a:solidFill>
              </a:rPr>
              <a:t>RESULTADO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311896" y="230428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69C2FB"/>
                </a:solidFill>
              </a:rPr>
              <a:t>Decisiones lentas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11896" y="3355848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DA8B8"/>
                </a:solidFill>
              </a:rPr>
              <a:t>Ciudadanos y PyMEs no tienen equipos de compliance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60120" y="4389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7F9FC"/>
                </a:solidFill>
              </a:rPr>
              <a:t>El reto no es encontrar enlaces. Es entender identidad, procedencia, relaciones y límites sin convertir un indicio en acusación.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LA SOLUCIÓN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Una búsqueda que explica de dónde viene cada dato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País + empresa, persona o identificación fiscal → coincidencia exacta → análisis trazable.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523744" cy="2468880"/>
          </a:xfrm>
          <a:prstGeom prst="roundRect">
            <a:avLst>
              <a:gd name="adj" fmla="val 2963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C2FB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9FC"/>
                </a:solidFill>
              </a:rPr>
              <a:t>BUSCAR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2644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8B8"/>
                </a:solidFill>
              </a:rPr>
              <a:t>Empresa, persona, NIT, RFC o RUC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36392" y="28803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679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7288" y="1874520"/>
            <a:ext cx="2523744" cy="2468880"/>
          </a:xfrm>
          <a:prstGeom prst="roundRect">
            <a:avLst>
              <a:gd name="adj" fmla="val 2963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C2FB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30168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9FC"/>
                </a:solidFill>
              </a:rPr>
              <a:t>COTEJAR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0168" y="32644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8B8"/>
                </a:solidFill>
              </a:rPr>
              <a:t>Identidad, alias e identificadores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8803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679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0216" y="1874520"/>
            <a:ext cx="2523744" cy="2468880"/>
          </a:xfrm>
          <a:prstGeom prst="roundRect">
            <a:avLst>
              <a:gd name="adj" fmla="val 2963"/>
            </a:avLst>
          </a:prstGeom>
          <a:solidFill>
            <a:srgbClr val="232B38"/>
          </a:solidFill>
          <a:ln w="19050">
            <a:solidFill>
              <a:srgbClr val="69C2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C2FB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83096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9FC"/>
                </a:solidFill>
              </a:rPr>
              <a:t>CONECTAR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83096" y="32644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8B8"/>
                </a:solidFill>
              </a:rPr>
              <a:t>Fuentes globales, nacionales y web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42248" y="28803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6679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53144" y="1874520"/>
            <a:ext cx="2523744" cy="2468880"/>
          </a:xfrm>
          <a:prstGeom prst="roundRect">
            <a:avLst>
              <a:gd name="adj" fmla="val 2963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C2FB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36024" y="27706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9FC"/>
                </a:solidFill>
              </a:rPr>
              <a:t>DECIDIR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36024" y="326440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8B8"/>
                </a:solidFill>
              </a:rPr>
              <a:t>Confianza, alertas, límites y próximos pasos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4892040"/>
            <a:ext cx="9646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8D69D"/>
                </a:solidFill>
              </a:rPr>
              <a:t>Cada resultado conserva la fuente, la fecha de consulta y la limitación de cobertura.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DEMO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La consulta muestra la red de fuentes en proceso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El usuario sabe qué se está consultando y cuál fuente sigue pendiente.</a:t>
            </a:r>
            <a:endParaRPr lang="en-US" sz="1200" dirty="0"/>
          </a:p>
        </p:txBody>
      </p:sp>
      <p:pic>
        <p:nvPicPr>
          <p:cNvPr id="5" name="Image 0" descr="/data/workspaces/Personal/Personal Assistant/upload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10972800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DEMO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El hallazgo se explica antes de abrir la fuente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Casa Tequilera: registro directo de OFAC, programas publicados y relación “Linked To”.</a:t>
            </a:r>
            <a:endParaRPr lang="en-US" sz="1200" dirty="0"/>
          </a:p>
        </p:txBody>
      </p:sp>
      <p:pic>
        <p:nvPicPr>
          <p:cNvPr id="5" name="Image 0" descr="/data/workspaces/Personal/Personal Assistant/uploads/image (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65836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572768"/>
            <a:ext cx="4023360" cy="4343400"/>
          </a:xfrm>
          <a:prstGeom prst="roundRect">
            <a:avLst>
              <a:gd name="adj" fmla="val 1818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9019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9C2FB"/>
                </a:solidFill>
              </a:rPr>
              <a:t>REGISTRO OFICIAL OFAC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63840" y="23317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9FC"/>
                </a:solidFill>
              </a:rPr>
              <a:t>Casa Tequilera El Origen del Tequila S.A. de C.V.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863840" y="3291840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69C2FB">
              <a:alpha val="18000"/>
            </a:srgbClr>
          </a:solidFill>
          <a:ln w="10160">
            <a:solidFill>
              <a:srgbClr val="69C2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36992" y="3364992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9C2FB"/>
                </a:solidFill>
              </a:rPr>
              <a:t>SDGT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823960" y="3291840"/>
            <a:ext cx="2148840" cy="274320"/>
          </a:xfrm>
          <a:prstGeom prst="roundRect">
            <a:avLst>
              <a:gd name="adj" fmla="val 20000"/>
            </a:avLst>
          </a:prstGeom>
          <a:solidFill>
            <a:srgbClr val="69C2FB">
              <a:alpha val="18000"/>
            </a:srgbClr>
          </a:solidFill>
          <a:ln w="10160">
            <a:solidFill>
              <a:srgbClr val="69C2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97112" y="3364992"/>
            <a:ext cx="2002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9C2FB"/>
                </a:solidFill>
              </a:rPr>
              <a:t>ILLICIT-DRUGS-EO14059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86384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DA8B8"/>
                </a:solidFill>
              </a:rPr>
              <a:t>VINCULADO 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86384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9FC"/>
                </a:solidFill>
              </a:rPr>
              <a:t>JIMENEZ ARIAS, Roberto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863840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A8B8"/>
                </a:solidFill>
              </a:rPr>
              <a:t>La plataforma no reescribe la fuente: conserva el vínculo y abre la ficha oficial exacta.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DEMO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Registro directo ≠ relación publicada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Roberto Jiménez Arias aparece como persona y también como vínculo en tres registros empresariales.</a:t>
            </a:r>
            <a:endParaRPr lang="en-US" sz="1200" dirty="0"/>
          </a:p>
        </p:txBody>
      </p:sp>
      <p:pic>
        <p:nvPicPr>
          <p:cNvPr id="5" name="Image 0" descr="/data/workspaces/Personal/Personal Assistant/uploads/image (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1097280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27A"/>
                </a:solidFill>
              </a:rPr>
              <a:t>1 registro directo en OFAC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80560" y="5715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C2FB"/>
                </a:solidFill>
              </a:rPr>
              <a:t>3 relaciones empresariales publicadas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8D69D"/>
                </a:solidFill>
              </a:rPr>
              <a:t>Sin inferir culpabilidad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IDENTIFICADORES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Una fuente internacional puede activar una segunda pasada nacional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El dato no termina en el hallazgo: se vuelve a consultar donde corresponde.</a:t>
            </a:r>
            <a:endParaRPr lang="en-US" sz="1200" dirty="0"/>
          </a:p>
        </p:txBody>
      </p:sp>
      <p:pic>
        <p:nvPicPr>
          <p:cNvPr id="5" name="Image 0" descr="/data/workspaces/Personal/Personal Assistant/uploads/image (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40080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6420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232B38"/>
          </a:solidFill>
          <a:ln w="19050">
            <a:solidFill>
              <a:srgbClr val="69C2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18288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9C2FB"/>
                </a:solidFill>
              </a:rPr>
              <a:t>GLOBAL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818120" y="2121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</a:rPr>
              <a:t>RFC detectado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0" y="2624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879"/>
                </a:solidFill>
              </a:rPr>
              <a:t>↓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89520" y="299008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9C2FB"/>
                </a:solidFill>
              </a:rPr>
              <a:t>SIEM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818120" y="34472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</a:rPr>
              <a:t>Búsqueda nacional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0" y="3950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879"/>
                </a:solidFill>
              </a:rPr>
              <a:t>↓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89520" y="431596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4480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9C2FB"/>
                </a:solidFill>
              </a:rPr>
              <a:t>SAT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818120" y="47731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</a:rPr>
              <a:t>Validación fiscal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89520" y="5715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B8"/>
                </a:solidFill>
              </a:rPr>
              <a:t>Diferenciamos “0 resultados” de “fuente temporalmente no disponible”. SAT conserva su validación interactiva oficial.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TECNOLOGÍA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Croma es la capa que convierte fuentes dispersas en contexto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Combinamos datos estructurados, evidencia web, investigación profunda y registros oficiales directos.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232B38"/>
          </a:solidFill>
          <a:ln w="13970">
            <a:solidFill>
              <a:srgbClr val="68D6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12264"/>
            <a:ext cx="320040" cy="320040"/>
          </a:xfrm>
          <a:prstGeom prst="ellipse">
            <a:avLst/>
          </a:prstGeom>
          <a:solidFill>
            <a:srgbClr val="68D69D"/>
          </a:solidFill>
          <a:ln w="12700">
            <a:solidFill>
              <a:srgbClr val="68D6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2048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CROMA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532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B8"/>
                </a:solidFill>
              </a:rPr>
              <a:t>RUES, SECOP, SIEM, SUNAT y fuentes estructuradas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232B38"/>
          </a:solidFill>
          <a:ln w="13970">
            <a:solidFill>
              <a:srgbClr val="69C2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12264"/>
            <a:ext cx="320040" cy="320040"/>
          </a:xfrm>
          <a:prstGeom prst="ellipse">
            <a:avLst/>
          </a:prstGeom>
          <a:solidFill>
            <a:srgbClr val="69C2FB"/>
          </a:solidFill>
          <a:ln w="12700">
            <a:solidFill>
              <a:srgbClr val="69C2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2048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CROMA WEB 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67728" y="2532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B8"/>
                </a:solidFill>
              </a:rPr>
              <a:t>Evidencia pública trazable y dominios oficiales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232B38"/>
          </a:solidFill>
          <a:ln w="13970">
            <a:solidFill>
              <a:srgbClr val="A99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078224"/>
            <a:ext cx="320040" cy="320040"/>
          </a:xfrm>
          <a:prstGeom prst="ellipse">
            <a:avLst/>
          </a:prstGeom>
          <a:solidFill>
            <a:srgbClr val="A995FF"/>
          </a:solidFill>
          <a:ln w="12700">
            <a:solidFill>
              <a:srgbClr val="A99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4014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</a:rPr>
              <a:t>CROMA RESEARCH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89888" y="4498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B8"/>
                </a:solidFill>
              </a:rPr>
              <a:t>Investigación ampliada con citas y cobertura solicitada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232B38"/>
          </a:solidFill>
          <a:ln w="13970">
            <a:solidFill>
              <a:srgbClr val="F4C66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4078224"/>
            <a:ext cx="320040" cy="320040"/>
          </a:xfrm>
          <a:prstGeom prst="ellipse">
            <a:avLst/>
          </a:prstGeom>
          <a:solidFill>
            <a:srgbClr val="F4C66C"/>
          </a:solidFill>
          <a:ln w="12700">
            <a:solidFill>
              <a:srgbClr val="F4C6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4014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9FC"/>
                </a:solidFill>
              </a:rPr>
              <a:t>LISTAS OFICIALES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67728" y="4498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B8"/>
                </a:solidFill>
              </a:rPr>
              <a:t>OFAC, FBI, Reino Unido, ONU, Canadá y FinCEN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88720" y="58064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A8B8"/>
                </a:solidFill>
              </a:rPr>
              <a:t>OpenAI es opcional y usa la clave del visitante solo durante la sesión; nunca sustituye una fuente oficial.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69C2FB"/>
                </a:solidFill>
              </a:rPr>
              <a:t>DISEÑO RESPONSABLE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9FC"/>
                </a:solidFill>
              </a:rPr>
              <a:t>Alertar sin acusar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A8B8"/>
                </a:solidFill>
              </a:rPr>
              <a:t>La plataforma explica qué sabe, qué no sabe y por qué una coincidencia necesita cotejo.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9C2FB"/>
                </a:solidFill>
              </a:rPr>
              <a:t>IDENTIDAD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</a:rPr>
              <a:t>Nombre, alias, fecha, nacionalidad e identificadores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7373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965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9C2FB"/>
                </a:solidFill>
              </a:rPr>
              <a:t>HOMÓNIMOS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2377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</a:rPr>
              <a:t>Una coincidencia nominal permanece como posible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75320" y="173736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965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9C2FB"/>
                </a:solidFill>
              </a:rPr>
              <a:t>COBERTURA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58200" y="2377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</a:rPr>
              <a:t>Ausencia de resultados no equivale a aprobación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86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8D69D"/>
                </a:solidFill>
              </a:rPr>
              <a:t>TRAZABILIDAD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</a:rPr>
              <a:t>Cada tarjeta abre la fuente primaria específica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480560" y="3657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886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9C2FB"/>
                </a:solidFill>
              </a:rPr>
              <a:t>LIMITACIONES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42976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</a:rPr>
              <a:t>SIEM es voluntario; SAT requiere validación manual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75320" y="3657600"/>
            <a:ext cx="3429000" cy="1417320"/>
          </a:xfrm>
          <a:prstGeom prst="roundRect">
            <a:avLst>
              <a:gd name="adj" fmla="val 4516"/>
            </a:avLst>
          </a:prstGeom>
          <a:solidFill>
            <a:srgbClr val="232B38"/>
          </a:solidFill>
          <a:ln w="12700">
            <a:solidFill>
              <a:srgbClr val="303A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886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9C2FB"/>
                </a:solidFill>
              </a:rPr>
              <a:t>CONTROL HUMANO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58200" y="42976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F9FC"/>
                </a:solidFill>
              </a:rPr>
              <a:t>No automatiza decisiones legales ni crediticias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571500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8D69D"/>
                </a:solidFill>
              </a:rPr>
              <a:t>No acusamos. Conectamos evidencia verificable para decidir mejor.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7F9FC"/>
                </a:solidFill>
              </a:rPr>
              <a:t>DUE DILIGENCE REGIONAL,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7F9FC"/>
                </a:solidFill>
              </a:rPr>
              <a:t>CLARA Y TRAZABLE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76656" y="23317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A8B8"/>
                </a:solidFill>
              </a:rPr>
              <a:t>Conoce a tu contraparte LatAm ayuda a ciudadanos, PyMEs y equipos de riesgo a entender quién está detrás de una relación comercial.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76656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69C2FB"/>
                </a:solidFill>
              </a:rPr>
              <a:t>Producto en vivo</a:t>
            </a:r>
            <a:endParaRPr lang="en-US" sz="9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76656" y="404164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7F9FC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conoce-tu-contraparte-latam.vercel.app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0" y="1005840"/>
            <a:ext cx="3429000" cy="4526280"/>
          </a:xfrm>
          <a:prstGeom prst="roundRect">
            <a:avLst>
              <a:gd name="adj" fmla="val 2667"/>
            </a:avLst>
          </a:prstGeom>
          <a:solidFill>
            <a:srgbClr val="232B38"/>
          </a:solidFill>
          <a:ln w="17780">
            <a:solidFill>
              <a:srgbClr val="69C2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75320" y="16002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40" kern="0" dirty="0">
                <a:solidFill>
                  <a:srgbClr val="69C2FB"/>
                </a:solidFill>
              </a:rPr>
              <a:t>UNA CONSULTA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8972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9C2FB"/>
                </a:solidFill>
              </a:rPr>
              <a:t>↓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275320" y="27432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9FC"/>
                </a:solidFill>
              </a:rPr>
              <a:t>FUENTES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7F9FC"/>
                </a:solidFill>
              </a:rPr>
              <a:t>CONECTADAS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8972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8D69D"/>
                </a:solidFill>
              </a:rPr>
              <a:t>↓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275320" y="42519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8D69D"/>
                </a:solidFill>
              </a:rPr>
              <a:t>DECISIONES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8D69D"/>
                </a:solidFill>
              </a:rPr>
              <a:t>MÁS SEGURAS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491A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Conoce a tu contraparte LatAm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Conoce a tu contraparte LatAm</dc:title>
  <dc:subject>Pitch deck para hackathon</dc:subject>
  <dc:creator>Conoce a tu contraparte LatAm</dc:creator>
  <cp:lastModifiedBy>Conoce a tu contraparte LatAm</cp:lastModifiedBy>
  <cp:revision>1</cp:revision>
  <dcterms:created xsi:type="dcterms:W3CDTF">2026-08-16T19:42:59Z</dcterms:created>
  <dcterms:modified xsi:type="dcterms:W3CDTF">2026-08-16T19:42:59Z</dcterms:modified>
</cp:coreProperties>
</file>